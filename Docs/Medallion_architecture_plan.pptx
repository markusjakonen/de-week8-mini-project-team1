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ED03"/>
    <a:srgbClr val="6B4B45"/>
    <a:srgbClr val="D3DA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FF6CF-7ED2-CAEB-8936-51F499711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0A493-F2AF-7EE8-623C-DA12E9E50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A7CA0-910A-C508-D8C7-78B92C445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B717-D82B-43DE-9098-C0C2B650B5B6}" type="datetimeFigureOut">
              <a:rPr lang="en-FI" smtClean="0"/>
              <a:t>01/07/2026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5E753-A82D-D1E2-18EF-BE3BD485B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2CE00-5833-4627-8042-C970D04C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B1FA7-43F8-4848-B874-F70D59291BC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69254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89D83-A6E4-66E1-BFE3-AFE0A8DB6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F1259-E113-E3EB-DE30-ECF12EA24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7C9D6-D9FD-0AF8-F98B-430F09102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B717-D82B-43DE-9098-C0C2B650B5B6}" type="datetimeFigureOut">
              <a:rPr lang="en-FI" smtClean="0"/>
              <a:t>01/07/2026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0335B-16AB-99A6-1495-B6537FBBD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7A3E8-8965-04DE-CFC1-258B18F8E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B1FA7-43F8-4848-B874-F70D59291BC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72590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3C720-B870-742F-E8AF-A530EF19A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52E-A06E-9BF3-5E93-A0A9E21FB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C6531-9AAD-BFE5-1798-57771656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B717-D82B-43DE-9098-C0C2B650B5B6}" type="datetimeFigureOut">
              <a:rPr lang="en-FI" smtClean="0"/>
              <a:t>01/07/2026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5CBC5-DA87-20E1-5C5A-E19A9F97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A1AFB-AF69-692F-01BB-0190F47B3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B1FA7-43F8-4848-B874-F70D59291BC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64441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264DA-A9EE-DCA7-6CF9-C2C9EECA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DB411-9C94-4971-2315-DC95277A6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35F98-970D-A5E9-A5AE-37404F148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6D165-C2AE-EB71-B96A-DD7EFCB29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B717-D82B-43DE-9098-C0C2B650B5B6}" type="datetimeFigureOut">
              <a:rPr lang="en-FI" smtClean="0"/>
              <a:t>01/07/2026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38950-9F7F-2C25-BBDE-5874FA165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1A667-DA22-23E9-9734-2BD73788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B1FA7-43F8-4848-B874-F70D59291BC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73726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748A3-AF6C-9074-E58B-D1FFCB4D2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7B442-E14B-198F-DE41-2C18A0B29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4902B-C89E-A42F-1651-20F62A656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2E95D-B55D-67F3-7F84-995D244B9D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029487-2D5C-1C3E-C23C-93003BD03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A6D23-5C51-D3ED-BFF9-16496E1A3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B717-D82B-43DE-9098-C0C2B650B5B6}" type="datetimeFigureOut">
              <a:rPr lang="en-FI" smtClean="0"/>
              <a:t>01/07/2026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DFC61-28CB-310E-2FC2-BC6E85965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F0FF5F-6343-9E3A-826F-B37A1CBB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B1FA7-43F8-4848-B874-F70D59291BC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75117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F2C22-A50C-D6FF-53FC-7E967A39F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EC93EC-7EFF-975D-A4A8-78513EA2D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B717-D82B-43DE-9098-C0C2B650B5B6}" type="datetimeFigureOut">
              <a:rPr lang="en-FI" smtClean="0"/>
              <a:t>01/07/2026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D8C5B-8B19-C53E-0FA6-0498E882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6DF28-2354-1524-F0B9-C28C980C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B1FA7-43F8-4848-B874-F70D59291BC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625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3A5564-F558-8E53-9AA9-F9EDD4647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B717-D82B-43DE-9098-C0C2B650B5B6}" type="datetimeFigureOut">
              <a:rPr lang="en-FI" smtClean="0"/>
              <a:t>01/07/2026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9EE065-159D-A841-3525-28150C288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5B213-C8EB-3E04-6743-6F359DCE1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B1FA7-43F8-4848-B874-F70D59291BC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3580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A1127-D7B5-1BAF-70DE-78DCF9166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740B8-48AF-EDAA-A9AD-676B500DB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A98DB-DB70-F10B-68D7-C61994B09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AA499-004D-DF05-A14D-BF7CAB701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B717-D82B-43DE-9098-C0C2B650B5B6}" type="datetimeFigureOut">
              <a:rPr lang="en-FI" smtClean="0"/>
              <a:t>01/07/2026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0E8E5-BD17-B9F2-5050-966B20E24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F7E77-AF08-A10C-E0FD-9AC93C52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B1FA7-43F8-4848-B874-F70D59291BC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88352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5DD4E-8C5C-7F47-504C-A11A89EA3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0A9B88-3324-6BD6-47C4-E42732054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4E1CD-0CC6-380E-8F19-C721CA941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E60BE-33D5-07B2-3CDD-562B51888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B717-D82B-43DE-9098-C0C2B650B5B6}" type="datetimeFigureOut">
              <a:rPr lang="en-FI" smtClean="0"/>
              <a:t>01/07/2026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4505C-0E47-7A96-95D0-7DA3CD9F1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E66F4-7AC1-504A-7587-58D43A2E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B1FA7-43F8-4848-B874-F70D59291BC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6378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3FDD-9001-A398-4D6D-84C086D9A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F7E1D-89A5-FFFA-A5C1-22A05266E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FA2AD-207E-970C-29CB-61E113EBE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B717-D82B-43DE-9098-C0C2B650B5B6}" type="datetimeFigureOut">
              <a:rPr lang="en-FI" smtClean="0"/>
              <a:t>01/07/2026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8E12B-650E-2D86-407F-E1D94DFAD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42AD5-4C90-C060-2519-5DA1F416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B1FA7-43F8-4848-B874-F70D59291BC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68992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66700A-F3CA-9EC7-73E3-ACBEB2B1E5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61D94A-133F-CAAF-053D-879E76D3B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E0828-9809-3D23-12A3-2B3CB7932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B717-D82B-43DE-9098-C0C2B650B5B6}" type="datetimeFigureOut">
              <a:rPr lang="en-FI" smtClean="0"/>
              <a:t>01/07/2026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595CF-595F-3E97-5CC7-103DA152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B7C42-7CB2-2D64-270E-483E6C77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B1FA7-43F8-4848-B874-F70D59291BC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2204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21A630-3257-C6C5-916D-BD9F69A2A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3B80E-9D45-19E8-86FA-B3BFDEFB7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128DE-CA7A-F29A-D4F6-919DB2D287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B0B717-D82B-43DE-9098-C0C2B650B5B6}" type="datetimeFigureOut">
              <a:rPr lang="en-FI" smtClean="0"/>
              <a:t>01/07/2026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4FBA4-0B24-72DD-AE2D-A4D3612CD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AC157-72C2-48BA-E4D7-41371C6E58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B1FA7-43F8-4848-B874-F70D59291BC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5576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E73581-3F77-2657-1BBD-898CFB05BEC3}"/>
              </a:ext>
            </a:extLst>
          </p:cNvPr>
          <p:cNvSpPr/>
          <p:nvPr/>
        </p:nvSpPr>
        <p:spPr>
          <a:xfrm>
            <a:off x="281355" y="975088"/>
            <a:ext cx="1657350" cy="12038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>
                <a:solidFill>
                  <a:schemeClr val="tx1"/>
                </a:solidFill>
              </a:rPr>
              <a:t>Sources</a:t>
            </a:r>
            <a:endParaRPr lang="en-FI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3A0F6D-B0FF-346C-3A10-FEB8FEBDDED8}"/>
              </a:ext>
            </a:extLst>
          </p:cNvPr>
          <p:cNvSpPr/>
          <p:nvPr/>
        </p:nvSpPr>
        <p:spPr>
          <a:xfrm>
            <a:off x="2449036" y="975088"/>
            <a:ext cx="1787218" cy="120382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/>
              <a:t>Bronze</a:t>
            </a:r>
            <a:endParaRPr lang="en-FI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5CD4FE-0E2F-C327-07A1-1B51D0C25200}"/>
              </a:ext>
            </a:extLst>
          </p:cNvPr>
          <p:cNvSpPr/>
          <p:nvPr/>
        </p:nvSpPr>
        <p:spPr>
          <a:xfrm>
            <a:off x="4838449" y="968097"/>
            <a:ext cx="1787218" cy="12038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dirty="0"/>
              <a:t>Silver</a:t>
            </a:r>
            <a:endParaRPr lang="en-FI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62445D-232A-4E26-215E-A2753D7CF126}"/>
              </a:ext>
            </a:extLst>
          </p:cNvPr>
          <p:cNvSpPr/>
          <p:nvPr/>
        </p:nvSpPr>
        <p:spPr>
          <a:xfrm>
            <a:off x="7353552" y="968097"/>
            <a:ext cx="1787218" cy="12038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tx1"/>
                </a:solidFill>
              </a:rPr>
              <a:t>Gold</a:t>
            </a:r>
            <a:endParaRPr lang="en-FI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B62744A-1A8B-D3C1-1815-F3BCC3F18248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1938705" y="1576998"/>
            <a:ext cx="510331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7E305E7-6833-CE28-3DF0-E2CF566617EE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4236254" y="1570007"/>
            <a:ext cx="602195" cy="699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312F03-8971-4D90-7B7C-1ACA7D53C897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6625667" y="1570007"/>
            <a:ext cx="727885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CCBA27D-734B-B2B2-D002-5F5336E4000F}"/>
              </a:ext>
            </a:extLst>
          </p:cNvPr>
          <p:cNvSpPr/>
          <p:nvPr/>
        </p:nvSpPr>
        <p:spPr>
          <a:xfrm>
            <a:off x="10002131" y="975088"/>
            <a:ext cx="1787218" cy="120382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/>
              <a:t>Power BI</a:t>
            </a:r>
            <a:endParaRPr lang="en-FI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E2B373A-C98F-9BA1-1BA7-892691D45B83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9140770" y="1570007"/>
            <a:ext cx="861361" cy="699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E56E4DA-3FC3-EF8C-66DB-3DB5D8C5638C}"/>
              </a:ext>
            </a:extLst>
          </p:cNvPr>
          <p:cNvSpPr txBox="1"/>
          <p:nvPr/>
        </p:nvSpPr>
        <p:spPr>
          <a:xfrm>
            <a:off x="184640" y="2357506"/>
            <a:ext cx="172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600" dirty="0" err="1"/>
              <a:t>Layer</a:t>
            </a:r>
            <a:r>
              <a:rPr lang="fi-FI" sz="1600" dirty="0"/>
              <a:t> </a:t>
            </a:r>
            <a:r>
              <a:rPr lang="fi-FI" sz="1600" dirty="0" err="1"/>
              <a:t>purpose</a:t>
            </a:r>
            <a:r>
              <a:rPr lang="fi-FI" sz="1600" dirty="0"/>
              <a:t>: </a:t>
            </a:r>
          </a:p>
          <a:p>
            <a:r>
              <a:rPr lang="fi-FI" sz="1200" dirty="0"/>
              <a:t>Original </a:t>
            </a:r>
            <a:r>
              <a:rPr lang="fi-FI" sz="1200" dirty="0" err="1"/>
              <a:t>source</a:t>
            </a:r>
            <a:r>
              <a:rPr lang="fi-FI" sz="1200" dirty="0"/>
              <a:t>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FDEDFB-C896-1302-1CBC-AE7573B8DD59}"/>
              </a:ext>
            </a:extLst>
          </p:cNvPr>
          <p:cNvSpPr txBox="1"/>
          <p:nvPr/>
        </p:nvSpPr>
        <p:spPr>
          <a:xfrm>
            <a:off x="2354141" y="2346702"/>
            <a:ext cx="2283367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600" dirty="0" err="1"/>
              <a:t>Layer</a:t>
            </a:r>
            <a:r>
              <a:rPr lang="fi-FI" sz="1600" dirty="0"/>
              <a:t> </a:t>
            </a:r>
            <a:r>
              <a:rPr lang="fi-FI" sz="1600" dirty="0" err="1"/>
              <a:t>purpose</a:t>
            </a:r>
            <a:r>
              <a:rPr lang="fi-FI" sz="1600" dirty="0"/>
              <a:t>: </a:t>
            </a:r>
          </a:p>
          <a:p>
            <a:r>
              <a:rPr lang="fi-FI" sz="1200" dirty="0" err="1"/>
              <a:t>Near</a:t>
            </a:r>
            <a:r>
              <a:rPr lang="fi-FI" sz="1200" dirty="0"/>
              <a:t> </a:t>
            </a:r>
            <a:r>
              <a:rPr lang="fi-FI" sz="1200" dirty="0" err="1"/>
              <a:t>raw</a:t>
            </a:r>
            <a:r>
              <a:rPr lang="fi-FI" sz="1200" dirty="0"/>
              <a:t> data, </a:t>
            </a:r>
            <a:r>
              <a:rPr lang="fi-FI" sz="1200" dirty="0" err="1"/>
              <a:t>raw</a:t>
            </a:r>
            <a:r>
              <a:rPr lang="fi-FI" sz="1200" dirty="0"/>
              <a:t> + </a:t>
            </a:r>
            <a:r>
              <a:rPr lang="fi-FI" sz="1200" dirty="0" err="1"/>
              <a:t>timestamp</a:t>
            </a:r>
            <a:endParaRPr lang="fi-FI" sz="1200" dirty="0"/>
          </a:p>
          <a:p>
            <a:endParaRPr lang="fi-FI" sz="1600" dirty="0"/>
          </a:p>
          <a:p>
            <a:r>
              <a:rPr lang="fi-FI" sz="1600" dirty="0"/>
              <a:t>Output </a:t>
            </a:r>
            <a:r>
              <a:rPr lang="fi-FI" sz="1600" dirty="0" err="1"/>
              <a:t>names</a:t>
            </a:r>
            <a:r>
              <a:rPr lang="fi-FI" sz="1600" dirty="0"/>
              <a:t> </a:t>
            </a:r>
            <a:r>
              <a:rPr lang="fi-FI" sz="1200" dirty="0"/>
              <a:t>(on </a:t>
            </a:r>
            <a:r>
              <a:rPr lang="fi-FI" sz="1200" dirty="0" err="1"/>
              <a:t>Bronze</a:t>
            </a:r>
            <a:r>
              <a:rPr lang="fi-FI" sz="1200" dirty="0"/>
              <a:t>):</a:t>
            </a:r>
            <a:endParaRPr lang="fi-FI" sz="1600" dirty="0"/>
          </a:p>
          <a:p>
            <a:r>
              <a:rPr lang="en-US" sz="1100" dirty="0"/>
              <a:t>new_car_registrations_FI.csv</a:t>
            </a:r>
          </a:p>
          <a:p>
            <a:r>
              <a:rPr lang="en-US" sz="1100" dirty="0"/>
              <a:t>new_car_registrations_SE.csv</a:t>
            </a:r>
          </a:p>
          <a:p>
            <a:r>
              <a:rPr lang="en-US" sz="1100" dirty="0"/>
              <a:t>open_charge_raw_FI.csv</a:t>
            </a:r>
          </a:p>
          <a:p>
            <a:r>
              <a:rPr lang="en-US" sz="1100" dirty="0"/>
              <a:t>open_charge_raw_SE.csv</a:t>
            </a:r>
            <a:endParaRPr lang="fi-FI" sz="1100" dirty="0"/>
          </a:p>
          <a:p>
            <a:endParaRPr lang="fi-FI" sz="1600" dirty="0"/>
          </a:p>
          <a:p>
            <a:r>
              <a:rPr lang="fi-FI" sz="1600" dirty="0" err="1"/>
              <a:t>Quality</a:t>
            </a:r>
            <a:r>
              <a:rPr lang="fi-FI" sz="1600" dirty="0"/>
              <a:t> </a:t>
            </a:r>
            <a:r>
              <a:rPr lang="fi-FI" sz="1600" dirty="0" err="1"/>
              <a:t>checks</a:t>
            </a:r>
            <a:r>
              <a:rPr lang="fi-FI" sz="1600" dirty="0"/>
              <a:t>: N/A</a:t>
            </a:r>
            <a:endParaRPr lang="en-FI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364C7B-95B9-52C8-9456-531C94390124}"/>
              </a:ext>
            </a:extLst>
          </p:cNvPr>
          <p:cNvSpPr txBox="1"/>
          <p:nvPr/>
        </p:nvSpPr>
        <p:spPr>
          <a:xfrm>
            <a:off x="4771090" y="2349931"/>
            <a:ext cx="2615416" cy="4570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600" dirty="0" err="1"/>
              <a:t>Layer</a:t>
            </a:r>
            <a:r>
              <a:rPr lang="fi-FI" sz="1600" dirty="0"/>
              <a:t> </a:t>
            </a:r>
            <a:r>
              <a:rPr lang="fi-FI" sz="1600" dirty="0" err="1"/>
              <a:t>purpose</a:t>
            </a:r>
            <a:r>
              <a:rPr lang="fi-FI" sz="1600" dirty="0"/>
              <a:t>: </a:t>
            </a:r>
          </a:p>
          <a:p>
            <a:r>
              <a:rPr lang="fi-FI" sz="1200" dirty="0" err="1"/>
              <a:t>Standardized</a:t>
            </a:r>
            <a:r>
              <a:rPr lang="fi-FI" sz="1200" dirty="0"/>
              <a:t> data</a:t>
            </a:r>
          </a:p>
          <a:p>
            <a:endParaRPr lang="fi-FI" sz="1600" dirty="0"/>
          </a:p>
          <a:p>
            <a:r>
              <a:rPr lang="fi-FI" sz="1600" dirty="0"/>
              <a:t>Output </a:t>
            </a:r>
            <a:r>
              <a:rPr lang="fi-FI" sz="1600" dirty="0" err="1"/>
              <a:t>names</a:t>
            </a:r>
            <a:r>
              <a:rPr lang="fi-FI" sz="1600" dirty="0"/>
              <a:t> </a:t>
            </a:r>
            <a:r>
              <a:rPr lang="fi-FI" sz="1200" dirty="0"/>
              <a:t>(on Silver):</a:t>
            </a:r>
            <a:endParaRPr lang="fi-FI" sz="1600" dirty="0"/>
          </a:p>
          <a:p>
            <a:r>
              <a:rPr lang="en-US" sz="1100" dirty="0"/>
              <a:t>silver_car_registrations_finland.csv</a:t>
            </a:r>
            <a:br>
              <a:rPr lang="en-US" sz="1100" dirty="0"/>
            </a:br>
            <a:r>
              <a:rPr lang="en-US" sz="800" dirty="0"/>
              <a:t>silver_new_car_registrations_totals_lookup_FI.csv</a:t>
            </a:r>
          </a:p>
          <a:p>
            <a:r>
              <a:rPr lang="en-US" sz="800" dirty="0"/>
              <a:t>silver_new_car_registrations_totals_lookup_SE.csv</a:t>
            </a:r>
          </a:p>
          <a:p>
            <a:r>
              <a:rPr lang="en-US" sz="1100" dirty="0"/>
              <a:t>silver_new_car_registrations_SE.csv</a:t>
            </a:r>
          </a:p>
          <a:p>
            <a:r>
              <a:rPr lang="en-US" sz="1100" dirty="0"/>
              <a:t>silver_ev_charging_stations_FI.csv</a:t>
            </a:r>
          </a:p>
          <a:p>
            <a:r>
              <a:rPr lang="en-US" sz="900" dirty="0"/>
              <a:t>REJECTED_silver_ev_charging_stations_FI.csv</a:t>
            </a:r>
          </a:p>
          <a:p>
            <a:r>
              <a:rPr lang="en-US" sz="1100" dirty="0"/>
              <a:t>silver_ev_charging_stations_SE.csv</a:t>
            </a:r>
          </a:p>
          <a:p>
            <a:r>
              <a:rPr lang="en-US" sz="900" dirty="0"/>
              <a:t>REJECTED_silver_ev_charging_stations_SE.csv</a:t>
            </a:r>
          </a:p>
          <a:p>
            <a:r>
              <a:rPr lang="en-US" sz="1100" dirty="0">
                <a:sym typeface="Wingdings" panose="05000000000000000000" pitchFamily="2" charset="2"/>
              </a:rPr>
              <a:t></a:t>
            </a:r>
            <a:br>
              <a:rPr lang="en-US" sz="1100" dirty="0">
                <a:sym typeface="Wingdings" panose="05000000000000000000" pitchFamily="2" charset="2"/>
              </a:rPr>
            </a:br>
            <a:r>
              <a:rPr lang="fi-FI" sz="1100" dirty="0"/>
              <a:t>SQL Server </a:t>
            </a:r>
            <a:r>
              <a:rPr lang="fi-FI" sz="1100" dirty="0" err="1"/>
              <a:t>database</a:t>
            </a:r>
            <a:r>
              <a:rPr lang="fi-FI" sz="1100" dirty="0"/>
              <a:t> </a:t>
            </a:r>
            <a:r>
              <a:rPr lang="fi-FI" sz="1100" dirty="0" err="1"/>
              <a:t>de_db</a:t>
            </a:r>
            <a:r>
              <a:rPr lang="fi-FI" sz="1100" dirty="0"/>
              <a:t> on </a:t>
            </a:r>
            <a:r>
              <a:rPr lang="fi-FI" sz="1100" dirty="0" err="1"/>
              <a:t>Azure</a:t>
            </a:r>
            <a:endParaRPr lang="fi-FI" sz="1100" dirty="0"/>
          </a:p>
          <a:p>
            <a:endParaRPr lang="fi-FI" sz="1600" dirty="0"/>
          </a:p>
          <a:p>
            <a:r>
              <a:rPr lang="fi-FI" sz="1600" dirty="0" err="1"/>
              <a:t>Quality</a:t>
            </a:r>
            <a:r>
              <a:rPr lang="fi-FI" sz="1600" dirty="0"/>
              <a:t> </a:t>
            </a:r>
            <a:r>
              <a:rPr lang="fi-FI" sz="1600" dirty="0" err="1"/>
              <a:t>checks</a:t>
            </a:r>
            <a:r>
              <a:rPr lang="fi-FI" sz="1600" dirty="0"/>
              <a:t>: </a:t>
            </a:r>
          </a:p>
          <a:p>
            <a:r>
              <a:rPr lang="fi-FI" sz="1100" dirty="0" err="1"/>
              <a:t>Validation</a:t>
            </a:r>
            <a:r>
              <a:rPr lang="fi-FI" sz="1100" dirty="0"/>
              <a:t> of </a:t>
            </a:r>
            <a:r>
              <a:rPr lang="fi-FI" sz="1100" dirty="0" err="1"/>
              <a:t>standardized</a:t>
            </a:r>
            <a:r>
              <a:rPr lang="fi-FI" sz="1100" dirty="0"/>
              <a:t> </a:t>
            </a:r>
            <a:r>
              <a:rPr lang="fi-FI" sz="1100" dirty="0" err="1"/>
              <a:t>values</a:t>
            </a:r>
            <a:r>
              <a:rPr lang="fi-FI" sz="1100" dirty="0"/>
              <a:t> (SE vs. FI)</a:t>
            </a:r>
          </a:p>
          <a:p>
            <a:r>
              <a:rPr lang="fi-FI" sz="1100" dirty="0"/>
              <a:t>No </a:t>
            </a:r>
            <a:r>
              <a:rPr lang="fi-FI" sz="1100" dirty="0" err="1"/>
              <a:t>duplicate</a:t>
            </a:r>
            <a:r>
              <a:rPr lang="fi-FI" sz="1100" dirty="0"/>
              <a:t> data</a:t>
            </a:r>
          </a:p>
          <a:p>
            <a:r>
              <a:rPr lang="fi-FI" sz="1100" dirty="0" err="1"/>
              <a:t>Dates</a:t>
            </a:r>
            <a:r>
              <a:rPr lang="fi-FI" sz="1100" dirty="0"/>
              <a:t> </a:t>
            </a:r>
            <a:r>
              <a:rPr lang="fi-FI" sz="1100" dirty="0" err="1"/>
              <a:t>are</a:t>
            </a:r>
            <a:r>
              <a:rPr lang="fi-FI" sz="1100" dirty="0"/>
              <a:t> </a:t>
            </a:r>
            <a:r>
              <a:rPr lang="fi-FI" sz="1100" dirty="0" err="1"/>
              <a:t>within</a:t>
            </a:r>
            <a:r>
              <a:rPr lang="fi-FI" sz="1100" dirty="0"/>
              <a:t> </a:t>
            </a:r>
            <a:r>
              <a:rPr lang="fi-FI" sz="1100" dirty="0" err="1"/>
              <a:t>range</a:t>
            </a:r>
            <a:r>
              <a:rPr lang="fi-FI" sz="1100" dirty="0"/>
              <a:t> (2016..2026)</a:t>
            </a:r>
          </a:p>
          <a:p>
            <a:r>
              <a:rPr lang="fi-FI" sz="1100" dirty="0" err="1"/>
              <a:t>Row</a:t>
            </a:r>
            <a:r>
              <a:rPr lang="fi-FI" sz="1100" dirty="0"/>
              <a:t> </a:t>
            </a:r>
            <a:r>
              <a:rPr lang="fi-FI" sz="1100" dirty="0" err="1"/>
              <a:t>counts</a:t>
            </a:r>
            <a:r>
              <a:rPr lang="fi-FI" sz="1100" dirty="0"/>
              <a:t> </a:t>
            </a:r>
            <a:r>
              <a:rPr lang="fi-FI" sz="1100" dirty="0" err="1"/>
              <a:t>compared</a:t>
            </a:r>
            <a:r>
              <a:rPr lang="fi-FI" sz="1100" dirty="0"/>
              <a:t> </a:t>
            </a:r>
            <a:r>
              <a:rPr lang="fi-FI" sz="1100" dirty="0" err="1"/>
              <a:t>with</a:t>
            </a:r>
            <a:r>
              <a:rPr lang="fi-FI" sz="1100" dirty="0"/>
              <a:t> </a:t>
            </a:r>
            <a:r>
              <a:rPr lang="fi-FI" sz="1100" dirty="0" err="1"/>
              <a:t>bronze</a:t>
            </a:r>
            <a:r>
              <a:rPr lang="fi-FI" sz="1100" dirty="0"/>
              <a:t> data</a:t>
            </a:r>
          </a:p>
          <a:p>
            <a:r>
              <a:rPr lang="fi-FI" sz="1100" dirty="0" err="1"/>
              <a:t>Not</a:t>
            </a:r>
            <a:r>
              <a:rPr lang="fi-FI" sz="1100" dirty="0"/>
              <a:t>-NULL </a:t>
            </a:r>
            <a:r>
              <a:rPr lang="fi-FI" sz="1100" dirty="0" err="1"/>
              <a:t>checks</a:t>
            </a:r>
            <a:endParaRPr lang="fi-FI" sz="1100" dirty="0"/>
          </a:p>
          <a:p>
            <a:r>
              <a:rPr lang="fi-FI" sz="1100" dirty="0" err="1"/>
              <a:t>Invalid</a:t>
            </a:r>
            <a:r>
              <a:rPr lang="fi-FI" sz="1100" dirty="0"/>
              <a:t> </a:t>
            </a:r>
            <a:r>
              <a:rPr lang="fi-FI" sz="1100" dirty="0" err="1"/>
              <a:t>numeric</a:t>
            </a:r>
            <a:r>
              <a:rPr lang="fi-FI" sz="1100" dirty="0"/>
              <a:t> </a:t>
            </a:r>
            <a:r>
              <a:rPr lang="fi-FI" sz="1100" dirty="0" err="1"/>
              <a:t>values</a:t>
            </a:r>
            <a:endParaRPr lang="fi-FI" sz="1100" dirty="0"/>
          </a:p>
          <a:p>
            <a:r>
              <a:rPr lang="fi-FI" sz="1100" dirty="0" err="1"/>
              <a:t>Rejected</a:t>
            </a:r>
            <a:r>
              <a:rPr lang="fi-FI" sz="1100" dirty="0"/>
              <a:t> </a:t>
            </a:r>
            <a:r>
              <a:rPr lang="fi-FI" sz="1100" dirty="0" err="1"/>
              <a:t>rows</a:t>
            </a:r>
            <a:endParaRPr lang="en-FI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A0BB2D-C176-D7C8-2A4C-CF670901BD3D}"/>
              </a:ext>
            </a:extLst>
          </p:cNvPr>
          <p:cNvSpPr txBox="1"/>
          <p:nvPr/>
        </p:nvSpPr>
        <p:spPr>
          <a:xfrm>
            <a:off x="7248046" y="2255211"/>
            <a:ext cx="243228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600" dirty="0" err="1"/>
              <a:t>Layer</a:t>
            </a:r>
            <a:r>
              <a:rPr lang="fi-FI" sz="1600" dirty="0"/>
              <a:t> </a:t>
            </a:r>
            <a:r>
              <a:rPr lang="fi-FI" sz="1600" dirty="0" err="1"/>
              <a:t>purpose</a:t>
            </a:r>
            <a:r>
              <a:rPr lang="fi-FI" sz="1600" dirty="0"/>
              <a:t>: </a:t>
            </a:r>
          </a:p>
          <a:p>
            <a:r>
              <a:rPr lang="fi-FI" sz="1200" dirty="0"/>
              <a:t>Reporting-</a:t>
            </a:r>
            <a:r>
              <a:rPr lang="fi-FI" sz="1200" dirty="0" err="1"/>
              <a:t>ready</a:t>
            </a:r>
            <a:r>
              <a:rPr lang="fi-FI" sz="1200" dirty="0"/>
              <a:t> data, </a:t>
            </a:r>
            <a:r>
              <a:rPr lang="fi-FI" sz="1200" dirty="0" err="1"/>
              <a:t>answers</a:t>
            </a:r>
            <a:r>
              <a:rPr lang="fi-FI" sz="1200" dirty="0"/>
              <a:t> </a:t>
            </a:r>
            <a:r>
              <a:rPr lang="fi-FI" sz="1200" dirty="0" err="1"/>
              <a:t>selected</a:t>
            </a:r>
            <a:r>
              <a:rPr lang="fi-FI" sz="1200" dirty="0"/>
              <a:t> business </a:t>
            </a:r>
            <a:r>
              <a:rPr lang="fi-FI" sz="1200" dirty="0" err="1"/>
              <a:t>questions</a:t>
            </a:r>
            <a:endParaRPr lang="fi-FI" sz="1200" dirty="0"/>
          </a:p>
          <a:p>
            <a:endParaRPr lang="fi-FI" sz="1600" dirty="0"/>
          </a:p>
          <a:p>
            <a:r>
              <a:rPr lang="fi-FI" sz="1600" dirty="0"/>
              <a:t>Output </a:t>
            </a:r>
            <a:r>
              <a:rPr lang="fi-FI" sz="1600" dirty="0" err="1"/>
              <a:t>names</a:t>
            </a:r>
            <a:r>
              <a:rPr lang="fi-FI" sz="1600" dirty="0"/>
              <a:t> </a:t>
            </a:r>
            <a:r>
              <a:rPr lang="fi-FI" sz="1200" dirty="0"/>
              <a:t>(on Gold):</a:t>
            </a:r>
          </a:p>
          <a:p>
            <a:r>
              <a:rPr lang="fi-FI" sz="1100" dirty="0"/>
              <a:t>SQL Server </a:t>
            </a:r>
            <a:r>
              <a:rPr lang="fi-FI" sz="1100" dirty="0" err="1"/>
              <a:t>database</a:t>
            </a:r>
            <a:r>
              <a:rPr lang="fi-FI" sz="1100" dirty="0"/>
              <a:t>/</a:t>
            </a:r>
          </a:p>
          <a:p>
            <a:r>
              <a:rPr lang="fi-FI" sz="1100" dirty="0">
                <a:sym typeface="Wingdings" panose="05000000000000000000" pitchFamily="2" charset="2"/>
              </a:rPr>
              <a:t>Data </a:t>
            </a:r>
            <a:r>
              <a:rPr lang="fi-FI" sz="1100" dirty="0" err="1">
                <a:sym typeface="Wingdings" panose="05000000000000000000" pitchFamily="2" charset="2"/>
              </a:rPr>
              <a:t>Warehouse</a:t>
            </a:r>
            <a:endParaRPr lang="fi-FI" sz="1100" dirty="0">
              <a:sym typeface="Wingdings" panose="05000000000000000000" pitchFamily="2" charset="2"/>
            </a:endParaRPr>
          </a:p>
          <a:p>
            <a:r>
              <a:rPr lang="fi-FI" sz="1100" dirty="0"/>
              <a:t>(</a:t>
            </a:r>
            <a:r>
              <a:rPr lang="fi-FI" sz="1100" dirty="0" err="1"/>
              <a:t>FactEVCharging</a:t>
            </a:r>
            <a:r>
              <a:rPr lang="fi-FI" sz="1100" dirty="0"/>
              <a:t>, </a:t>
            </a:r>
            <a:r>
              <a:rPr lang="fi-FI" sz="1100" dirty="0" err="1"/>
              <a:t>DimGeography</a:t>
            </a:r>
            <a:r>
              <a:rPr lang="fi-FI" sz="1100" dirty="0"/>
              <a:t>, </a:t>
            </a:r>
            <a:r>
              <a:rPr lang="fi-FI" sz="1100" dirty="0" err="1"/>
              <a:t>DimDate</a:t>
            </a:r>
            <a:r>
              <a:rPr lang="fi-FI" sz="1100" dirty="0"/>
              <a:t>)</a:t>
            </a:r>
          </a:p>
          <a:p>
            <a:endParaRPr lang="fi-FI" sz="1600" dirty="0"/>
          </a:p>
          <a:p>
            <a:r>
              <a:rPr lang="fi-FI" sz="1600" dirty="0" err="1"/>
              <a:t>Quality</a:t>
            </a:r>
            <a:r>
              <a:rPr lang="fi-FI" sz="1600" dirty="0"/>
              <a:t> </a:t>
            </a:r>
            <a:r>
              <a:rPr lang="fi-FI" sz="1600" dirty="0" err="1"/>
              <a:t>checks</a:t>
            </a:r>
            <a:r>
              <a:rPr lang="fi-FI" sz="1600" dirty="0"/>
              <a:t>:</a:t>
            </a:r>
          </a:p>
          <a:p>
            <a:r>
              <a:rPr lang="fi-FI" sz="1100" dirty="0" err="1"/>
              <a:t>Against</a:t>
            </a:r>
            <a:r>
              <a:rPr lang="fi-FI" sz="1100" dirty="0"/>
              <a:t> </a:t>
            </a:r>
            <a:r>
              <a:rPr lang="fi-FI" sz="1100" dirty="0" err="1"/>
              <a:t>silver</a:t>
            </a:r>
            <a:r>
              <a:rPr lang="fi-FI" sz="1100" dirty="0"/>
              <a:t> </a:t>
            </a:r>
            <a:r>
              <a:rPr lang="fi-FI" sz="1100" dirty="0" err="1"/>
              <a:t>level</a:t>
            </a:r>
            <a:r>
              <a:rPr lang="fi-FI" sz="1100" dirty="0"/>
              <a:t>:</a:t>
            </a:r>
          </a:p>
          <a:p>
            <a:r>
              <a:rPr lang="fi-FI" sz="1100" dirty="0" err="1"/>
              <a:t>Dimensions</a:t>
            </a:r>
            <a:r>
              <a:rPr lang="fi-FI" sz="1100" dirty="0"/>
              <a:t> (</a:t>
            </a:r>
            <a:r>
              <a:rPr lang="fi-FI" sz="1100" dirty="0" err="1"/>
              <a:t>locations</a:t>
            </a:r>
            <a:r>
              <a:rPr lang="fi-FI" sz="1100" dirty="0"/>
              <a:t>)</a:t>
            </a:r>
          </a:p>
          <a:p>
            <a:r>
              <a:rPr lang="fi-FI" sz="1100" dirty="0" err="1"/>
              <a:t>All</a:t>
            </a:r>
            <a:r>
              <a:rPr lang="fi-FI" sz="1100" dirty="0"/>
              <a:t> </a:t>
            </a:r>
            <a:r>
              <a:rPr lang="fi-FI" sz="1100" dirty="0" err="1"/>
              <a:t>registrations</a:t>
            </a:r>
            <a:r>
              <a:rPr lang="fi-FI" sz="1100" dirty="0"/>
              <a:t> </a:t>
            </a:r>
            <a:r>
              <a:rPr lang="fi-FI" sz="1100" dirty="0" err="1"/>
              <a:t>are</a:t>
            </a:r>
            <a:r>
              <a:rPr lang="fi-FI" sz="1100" dirty="0"/>
              <a:t> in </a:t>
            </a:r>
            <a:r>
              <a:rPr lang="fi-FI" sz="1100" dirty="0" err="1"/>
              <a:t>Fact</a:t>
            </a:r>
            <a:r>
              <a:rPr lang="fi-FI" sz="1100" dirty="0"/>
              <a:t> </a:t>
            </a:r>
            <a:r>
              <a:rPr lang="fi-FI" sz="1100" dirty="0" err="1"/>
              <a:t>table</a:t>
            </a:r>
            <a:endParaRPr lang="fi-FI" sz="1100" dirty="0"/>
          </a:p>
          <a:p>
            <a:r>
              <a:rPr lang="fi-FI" sz="1100" dirty="0" err="1"/>
              <a:t>Rejected</a:t>
            </a:r>
            <a:r>
              <a:rPr lang="fi-FI" sz="1100" dirty="0"/>
              <a:t> </a:t>
            </a:r>
            <a:r>
              <a:rPr lang="fi-FI" sz="1100" dirty="0" err="1"/>
              <a:t>rows</a:t>
            </a:r>
            <a:r>
              <a:rPr lang="fi-FI" sz="1100" dirty="0"/>
              <a:t> </a:t>
            </a:r>
            <a:r>
              <a:rPr lang="fi-FI" sz="1100" dirty="0" err="1"/>
              <a:t>are</a:t>
            </a:r>
            <a:r>
              <a:rPr lang="fi-FI" sz="1100" dirty="0"/>
              <a:t> </a:t>
            </a:r>
            <a:r>
              <a:rPr lang="fi-FI" sz="1100" dirty="0" err="1"/>
              <a:t>not</a:t>
            </a:r>
            <a:r>
              <a:rPr lang="fi-FI" sz="1100" dirty="0"/>
              <a:t> in </a:t>
            </a:r>
            <a:r>
              <a:rPr lang="fi-FI" sz="1100" dirty="0" err="1"/>
              <a:t>Fact</a:t>
            </a:r>
            <a:r>
              <a:rPr lang="fi-FI" sz="1100" dirty="0"/>
              <a:t> </a:t>
            </a:r>
            <a:r>
              <a:rPr lang="fi-FI" sz="1100" dirty="0" err="1"/>
              <a:t>table</a:t>
            </a:r>
            <a:endParaRPr lang="fi-FI" sz="1100" dirty="0"/>
          </a:p>
          <a:p>
            <a:endParaRPr lang="en-FI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4D4E70-5610-E42F-8745-413F3143742D}"/>
              </a:ext>
            </a:extLst>
          </p:cNvPr>
          <p:cNvSpPr txBox="1"/>
          <p:nvPr/>
        </p:nvSpPr>
        <p:spPr>
          <a:xfrm>
            <a:off x="9891092" y="2249292"/>
            <a:ext cx="222910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600" dirty="0" err="1"/>
              <a:t>Layer</a:t>
            </a:r>
            <a:r>
              <a:rPr lang="fi-FI" sz="1600" dirty="0"/>
              <a:t> </a:t>
            </a:r>
            <a:r>
              <a:rPr lang="fi-FI" sz="1600" dirty="0" err="1"/>
              <a:t>purpose</a:t>
            </a:r>
            <a:r>
              <a:rPr lang="fi-FI" sz="1600" dirty="0"/>
              <a:t>: </a:t>
            </a:r>
          </a:p>
          <a:p>
            <a:r>
              <a:rPr lang="fi-FI" sz="1200" dirty="0" err="1"/>
              <a:t>Answers</a:t>
            </a:r>
            <a:r>
              <a:rPr lang="fi-FI" sz="1200" dirty="0"/>
              <a:t> business </a:t>
            </a:r>
            <a:r>
              <a:rPr lang="fi-FI" sz="1200" dirty="0" err="1"/>
              <a:t>questions</a:t>
            </a:r>
            <a:r>
              <a:rPr lang="fi-FI" sz="1200" dirty="0"/>
              <a:t> </a:t>
            </a:r>
            <a:r>
              <a:rPr lang="fi-FI" sz="1200" dirty="0" err="1"/>
              <a:t>by</a:t>
            </a:r>
            <a:r>
              <a:rPr lang="fi-FI" sz="1200" dirty="0"/>
              <a:t> </a:t>
            </a:r>
            <a:r>
              <a:rPr lang="fi-FI" sz="1200" dirty="0" err="1"/>
              <a:t>analyzing</a:t>
            </a:r>
            <a:r>
              <a:rPr lang="fi-FI" sz="1200" dirty="0"/>
              <a:t> and </a:t>
            </a:r>
            <a:r>
              <a:rPr lang="fi-FI" sz="1200" dirty="0" err="1"/>
              <a:t>visualizing</a:t>
            </a:r>
            <a:r>
              <a:rPr lang="fi-FI" sz="1200" dirty="0"/>
              <a:t> data</a:t>
            </a:r>
          </a:p>
          <a:p>
            <a:endParaRPr lang="fi-FI" sz="1600" dirty="0"/>
          </a:p>
          <a:p>
            <a:r>
              <a:rPr lang="fi-FI" sz="1600" dirty="0"/>
              <a:t>Output </a:t>
            </a:r>
            <a:r>
              <a:rPr lang="fi-FI" sz="1600" dirty="0" err="1"/>
              <a:t>names</a:t>
            </a:r>
            <a:r>
              <a:rPr lang="fi-FI" sz="1600" dirty="0"/>
              <a:t> </a:t>
            </a:r>
            <a:r>
              <a:rPr lang="fi-FI" sz="1200" dirty="0"/>
              <a:t>(on Gold):</a:t>
            </a:r>
          </a:p>
          <a:p>
            <a:r>
              <a:rPr lang="fi-FI" sz="1200" dirty="0" err="1"/>
              <a:t>ev_registrations_charging_infra_dev.pbix</a:t>
            </a:r>
            <a:endParaRPr lang="fi-FI" sz="1200" dirty="0"/>
          </a:p>
          <a:p>
            <a:endParaRPr lang="fi-FI" sz="1600" dirty="0"/>
          </a:p>
          <a:p>
            <a:r>
              <a:rPr lang="fi-FI" sz="1600" dirty="0" err="1"/>
              <a:t>Quality</a:t>
            </a:r>
            <a:r>
              <a:rPr lang="fi-FI" sz="1600" dirty="0"/>
              <a:t> </a:t>
            </a:r>
            <a:r>
              <a:rPr lang="fi-FI" sz="1600" dirty="0" err="1"/>
              <a:t>checks</a:t>
            </a:r>
            <a:r>
              <a:rPr lang="fi-FI" sz="1600" dirty="0"/>
              <a:t>:</a:t>
            </a:r>
          </a:p>
          <a:p>
            <a:r>
              <a:rPr lang="fi-FI" sz="1200" dirty="0" err="1"/>
              <a:t>Row</a:t>
            </a:r>
            <a:r>
              <a:rPr lang="fi-FI" sz="1200" dirty="0"/>
              <a:t> </a:t>
            </a:r>
            <a:r>
              <a:rPr lang="fi-FI" sz="1200" dirty="0" err="1"/>
              <a:t>count</a:t>
            </a:r>
            <a:r>
              <a:rPr lang="fi-FI" sz="1200" dirty="0"/>
              <a:t> </a:t>
            </a:r>
            <a:r>
              <a:rPr lang="fi-FI" sz="1200" dirty="0" err="1"/>
              <a:t>check</a:t>
            </a:r>
            <a:r>
              <a:rPr lang="fi-FI" sz="1200" dirty="0"/>
              <a:t> </a:t>
            </a:r>
            <a:r>
              <a:rPr lang="fi-FI" sz="1200" dirty="0" err="1"/>
              <a:t>against</a:t>
            </a:r>
            <a:r>
              <a:rPr lang="fi-FI" sz="1200" dirty="0"/>
              <a:t> Gold-</a:t>
            </a:r>
            <a:r>
              <a:rPr lang="fi-FI" sz="1200" dirty="0" err="1"/>
              <a:t>level</a:t>
            </a:r>
            <a:r>
              <a:rPr lang="fi-FI" sz="1200" dirty="0"/>
              <a:t> SQL</a:t>
            </a:r>
          </a:p>
          <a:p>
            <a:r>
              <a:rPr lang="fi-FI" sz="1200" dirty="0" err="1"/>
              <a:t>Invalid</a:t>
            </a:r>
            <a:r>
              <a:rPr lang="fi-FI" sz="1200" dirty="0"/>
              <a:t> </a:t>
            </a:r>
            <a:r>
              <a:rPr lang="fi-FI" sz="1200" dirty="0" err="1"/>
              <a:t>numeric</a:t>
            </a:r>
            <a:r>
              <a:rPr lang="fi-FI" sz="1200" dirty="0"/>
              <a:t> </a:t>
            </a:r>
            <a:r>
              <a:rPr lang="fi-FI" sz="1200" dirty="0" err="1"/>
              <a:t>values</a:t>
            </a:r>
            <a:endParaRPr lang="fi-FI" sz="1200" dirty="0"/>
          </a:p>
          <a:p>
            <a:r>
              <a:rPr lang="fi-FI" sz="1200" dirty="0" err="1"/>
              <a:t>Invalid</a:t>
            </a:r>
            <a:r>
              <a:rPr lang="fi-FI" sz="1200" dirty="0"/>
              <a:t> </a:t>
            </a:r>
            <a:r>
              <a:rPr lang="fi-FI" sz="1200" dirty="0" err="1"/>
              <a:t>dates</a:t>
            </a:r>
            <a:endParaRPr lang="fi-FI" sz="1200" dirty="0"/>
          </a:p>
          <a:p>
            <a:endParaRPr lang="en-FI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0A867E-3234-2073-27FE-0252C7FB2C53}"/>
              </a:ext>
            </a:extLst>
          </p:cNvPr>
          <p:cNvSpPr txBox="1"/>
          <p:nvPr/>
        </p:nvSpPr>
        <p:spPr>
          <a:xfrm>
            <a:off x="3797066" y="151296"/>
            <a:ext cx="21639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100" dirty="0" err="1"/>
              <a:t>Remove</a:t>
            </a:r>
            <a:r>
              <a:rPr lang="fi-FI" sz="1100" dirty="0"/>
              <a:t> </a:t>
            </a:r>
            <a:r>
              <a:rPr lang="fi-FI" sz="1100" dirty="0" err="1"/>
              <a:t>unnecessary</a:t>
            </a:r>
            <a:r>
              <a:rPr lang="fi-FI" sz="1100" dirty="0"/>
              <a:t> </a:t>
            </a:r>
            <a:r>
              <a:rPr lang="fi-FI" sz="1100" dirty="0" err="1"/>
              <a:t>columns</a:t>
            </a:r>
            <a:endParaRPr lang="fi-FI" sz="1100" dirty="0"/>
          </a:p>
          <a:p>
            <a:r>
              <a:rPr lang="fi-FI" sz="1100" dirty="0" err="1"/>
              <a:t>Remove</a:t>
            </a:r>
            <a:r>
              <a:rPr lang="fi-FI" sz="1100" dirty="0"/>
              <a:t> </a:t>
            </a:r>
            <a:r>
              <a:rPr lang="fi-FI" sz="1100" dirty="0" err="1"/>
              <a:t>rows</a:t>
            </a:r>
            <a:endParaRPr lang="fi-FI" sz="1100" dirty="0"/>
          </a:p>
          <a:p>
            <a:r>
              <a:rPr lang="fi-FI" sz="1100" dirty="0" err="1"/>
              <a:t>Add</a:t>
            </a:r>
            <a:r>
              <a:rPr lang="fi-FI" sz="1100" dirty="0"/>
              <a:t> </a:t>
            </a:r>
            <a:r>
              <a:rPr lang="fi-FI" sz="1100" dirty="0" err="1"/>
              <a:t>columns</a:t>
            </a:r>
            <a:r>
              <a:rPr lang="fi-FI" sz="1100" dirty="0"/>
              <a:t> (”</a:t>
            </a:r>
            <a:r>
              <a:rPr lang="fi-FI" sz="1100" dirty="0" err="1"/>
              <a:t>region</a:t>
            </a:r>
            <a:r>
              <a:rPr lang="fi-FI" sz="1100" dirty="0"/>
              <a:t>”)</a:t>
            </a:r>
          </a:p>
          <a:p>
            <a:r>
              <a:rPr lang="fi-FI" sz="1100" dirty="0" err="1"/>
              <a:t>Handle</a:t>
            </a:r>
            <a:r>
              <a:rPr lang="fi-FI" sz="1100" dirty="0"/>
              <a:t> data </a:t>
            </a:r>
            <a:r>
              <a:rPr lang="fi-FI" sz="1100" dirty="0" err="1"/>
              <a:t>type</a:t>
            </a:r>
            <a:r>
              <a:rPr lang="fi-FI" sz="1100" dirty="0"/>
              <a:t> </a:t>
            </a:r>
            <a:r>
              <a:rPr lang="fi-FI" sz="1100" dirty="0" err="1"/>
              <a:t>conversions</a:t>
            </a:r>
            <a:endParaRPr lang="en-FI" sz="11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4F39CF-14A3-AA2E-3C20-E6541B2CA737}"/>
              </a:ext>
            </a:extLst>
          </p:cNvPr>
          <p:cNvSpPr txBox="1"/>
          <p:nvPr/>
        </p:nvSpPr>
        <p:spPr>
          <a:xfrm>
            <a:off x="6550222" y="395573"/>
            <a:ext cx="10990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100" dirty="0"/>
              <a:t>SQL: ER </a:t>
            </a:r>
            <a:r>
              <a:rPr lang="fi-FI" sz="1100" dirty="0" err="1"/>
              <a:t>model</a:t>
            </a:r>
            <a:r>
              <a:rPr lang="fi-FI" sz="1100" dirty="0"/>
              <a:t> </a:t>
            </a:r>
            <a:r>
              <a:rPr lang="fi-FI" sz="1100" dirty="0">
                <a:sym typeface="Wingdings" panose="05000000000000000000" pitchFamily="2" charset="2"/>
              </a:rPr>
              <a:t> </a:t>
            </a:r>
            <a:r>
              <a:rPr lang="fi-FI" sz="1100" dirty="0"/>
              <a:t>Star </a:t>
            </a:r>
            <a:r>
              <a:rPr lang="fi-FI" sz="1100" dirty="0" err="1"/>
              <a:t>model</a:t>
            </a:r>
            <a:endParaRPr lang="en-FI" sz="1100" dirty="0"/>
          </a:p>
        </p:txBody>
      </p:sp>
    </p:spTree>
    <p:extLst>
      <p:ext uri="{BB962C8B-B14F-4D97-AF65-F5344CB8AC3E}">
        <p14:creationId xmlns:p14="http://schemas.microsoft.com/office/powerpoint/2010/main" val="1451393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344</Words>
  <Application>Microsoft Office PowerPoint</Application>
  <PresentationFormat>Widescreen</PresentationFormat>
  <Paragraphs>66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Jakonen</dc:creator>
  <cp:lastModifiedBy>Markus Jakonen</cp:lastModifiedBy>
  <cp:revision>24</cp:revision>
  <dcterms:created xsi:type="dcterms:W3CDTF">2026-06-29T11:52:05Z</dcterms:created>
  <dcterms:modified xsi:type="dcterms:W3CDTF">2026-07-01T13:06:56Z</dcterms:modified>
</cp:coreProperties>
</file>